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182880"/>
            <a:ext cx="3200400" cy="3200400"/>
          </a:xfrm>
          <a:prstGeom prst="ellipse">
            <a:avLst/>
          </a:prstGeom>
          <a:solidFill>
            <a:srgbClr val="0F2E4C"/>
          </a:solidFill>
          <a:ln>
            <a:solidFill>
              <a:srgbClr val="0F2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114800"/>
            <a:ext cx="2011680" cy="2011680"/>
          </a:xfrm>
          <a:prstGeom prst="ellipse">
            <a:avLst/>
          </a:prstGeom>
          <a:solidFill>
            <a:srgbClr val="0D2842"/>
          </a:solidFill>
          <a:ln>
            <a:solidFill>
              <a:srgbClr val="0D2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5212080"/>
            <a:ext cx="1097280" cy="1097280"/>
          </a:xfrm>
          <a:prstGeom prst="ellipse">
            <a:avLst/>
          </a:prstGeom>
          <a:solidFill>
            <a:srgbClr val="103755"/>
          </a:solidFill>
          <a:ln>
            <a:solidFill>
              <a:srgbClr val="10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02920"/>
            <a:ext cx="71323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2DD4E6"/>
                </a:solidFill>
                <a:latin typeface="Aptos"/>
              </a:rPr>
              <a:t>DIGITAL DESIGN &amp; COMPUTER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43000"/>
            <a:ext cx="713232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SMART WATER TANK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19072"/>
            <a:ext cx="713232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OVERFLOW PROTECTION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95144"/>
            <a:ext cx="713232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600" b="1">
                <a:solidFill>
                  <a:srgbClr val="2DD4E6"/>
                </a:solidFill>
                <a:latin typeface="Aptos"/>
              </a:rPr>
              <a:t>AND PUMP CONTROL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61264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B4D2E8"/>
                </a:solidFill>
                <a:latin typeface="Aptos"/>
              </a:rPr>
              <a:t>Design • Logic • Simulation in Logisim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325880"/>
            <a:ext cx="1554480" cy="2468880"/>
          </a:xfrm>
          <a:prstGeom prst="rect">
            <a:avLst/>
          </a:prstGeom>
          <a:solidFill>
            <a:srgbClr val="143A58"/>
          </a:solidFill>
          <a:ln w="29209">
            <a:solidFill>
              <a:srgbClr val="2D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32520" y="2115921"/>
            <a:ext cx="1463039" cy="1651406"/>
          </a:xfrm>
          <a:prstGeom prst="rect">
            <a:avLst/>
          </a:prstGeom>
          <a:solidFill>
            <a:srgbClr val="1877D2"/>
          </a:solidFill>
          <a:ln>
            <a:solidFill>
              <a:srgbClr val="187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778240" y="2115921"/>
            <a:ext cx="1371600" cy="0"/>
          </a:xfrm>
          <a:prstGeom prst="line">
            <a:avLst/>
          </a:prstGeom>
          <a:ln w="16510">
            <a:solidFill>
              <a:srgbClr val="2DD4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485632" y="3103473"/>
            <a:ext cx="521208" cy="0"/>
          </a:xfrm>
          <a:prstGeom prst="line">
            <a:avLst/>
          </a:prstGeom>
          <a:ln w="27940">
            <a:solidFill>
              <a:srgbClr val="FFB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357616" y="3039465"/>
            <a:ext cx="164592" cy="128016"/>
          </a:xfrm>
          <a:prstGeom prst="roundRect">
            <a:avLst/>
          </a:prstGeom>
          <a:solidFill>
            <a:srgbClr val="FFB042"/>
          </a:solidFill>
          <a:ln>
            <a:solidFill>
              <a:srgbClr val="FFB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51007" y="2984601"/>
            <a:ext cx="56692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>
                <a:solidFill>
                  <a:srgbClr val="FFB042"/>
                </a:solidFill>
                <a:latin typeface="Aptos"/>
              </a:rPr>
              <a:t>LOW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85632" y="1869033"/>
            <a:ext cx="521208" cy="0"/>
          </a:xfrm>
          <a:prstGeom prst="line">
            <a:avLst/>
          </a:prstGeom>
          <a:ln w="27940">
            <a:solidFill>
              <a:srgbClr val="25BE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357616" y="1805025"/>
            <a:ext cx="164592" cy="128016"/>
          </a:xfrm>
          <a:prstGeom prst="roundRect">
            <a:avLst/>
          </a:prstGeom>
          <a:solidFill>
            <a:srgbClr val="25BE84"/>
          </a:solidFill>
          <a:ln>
            <a:solidFill>
              <a:srgbClr val="25B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51007" y="1750161"/>
            <a:ext cx="56692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>
                <a:solidFill>
                  <a:srgbClr val="25BE84"/>
                </a:solidFill>
                <a:latin typeface="Aptos"/>
              </a:rPr>
              <a:t>FULL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4251960"/>
            <a:ext cx="2926080" cy="658368"/>
          </a:xfrm>
          <a:prstGeom prst="roundRect">
            <a:avLst/>
          </a:prstGeom>
          <a:solidFill>
            <a:srgbClr val="0F2E4C"/>
          </a:solidFill>
          <a:ln>
            <a:solidFill>
              <a:srgbClr val="2D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5008" y="4407408"/>
            <a:ext cx="26974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AUTO PUMP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977639"/>
            <a:ext cx="21945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2DD4E6"/>
                </a:solidFill>
                <a:latin typeface="Aptos"/>
              </a:rPr>
              <a:t>TEAM MEMBERS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315968"/>
            <a:ext cx="71323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2620090006  |  Sai Harsha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709159"/>
            <a:ext cx="71323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2620090013  |  Kanduri Vishnu Preetham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102352"/>
            <a:ext cx="71323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2620090016  |  Thumu Vilas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495544"/>
            <a:ext cx="71323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2620090023  |  T. V. H. S. S. Jayasurya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608076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1100" b="1">
                <a:solidFill>
                  <a:srgbClr val="B4D2E8"/>
                </a:solidFill>
                <a:latin typeface="Aptos"/>
              </a:rPr>
              <a:t>SECTION: 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6263640"/>
            <a:ext cx="40233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87A8C2"/>
                </a:solidFill>
                <a:latin typeface="Aptos"/>
              </a:rPr>
              <a:t>FINAL PROJECT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2DD4E6"/>
                </a:solidFill>
                <a:latin typeface="Aptos"/>
              </a:rPr>
              <a:t>DDCA PROJECT  /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Introduction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B0CBE2"/>
                </a:solidFill>
                <a:latin typeface="Aptos"/>
              </a:rPr>
              <a:t>A digital-logic approach to safer, smarter water storage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81328"/>
            <a:ext cx="11128248" cy="0"/>
          </a:xfrm>
          <a:prstGeom prst="line">
            <a:avLst/>
          </a:prstGeom>
          <a:ln w="15240">
            <a:solidFill>
              <a:srgbClr val="0F2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783080"/>
            <a:ext cx="6537960" cy="4434840"/>
          </a:xfrm>
          <a:prstGeom prst="roundRect">
            <a:avLst/>
          </a:prstGeom>
          <a:solidFill>
            <a:srgbClr val="0F2E4C"/>
          </a:solidFill>
          <a:ln>
            <a:solidFill>
              <a:srgbClr val="224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22860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B042"/>
                </a:solidFill>
                <a:latin typeface="Apto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589788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Water tanks can overflow when a pump is left running. Manual monitoring also wastes time and may lead to water and electricity loss.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93008"/>
            <a:ext cx="22860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2DD4E6"/>
                </a:solidFill>
                <a:latin typeface="Aptos"/>
              </a:rPr>
              <a:t>OUR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22191"/>
            <a:ext cx="589788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Use level sensors as digital inputs and logic circuitry to control a pump indicator automatically.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828032"/>
            <a:ext cx="22860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25BE84"/>
                </a:solidFill>
                <a:latin typeface="Aptos"/>
              </a:rPr>
              <a:t>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5166360"/>
            <a:ext cx="20116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2DD4E6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5166360"/>
            <a:ext cx="559612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Detect low-water and full-tank conditions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5477256"/>
            <a:ext cx="20116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2DD4E6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5477256"/>
            <a:ext cx="559612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Turn the pump control output on/off logically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5788152"/>
            <a:ext cx="20116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2DD4E6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5788152"/>
            <a:ext cx="559612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Verify the design using a Logisim simulation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1828800"/>
            <a:ext cx="36576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2DD4E6"/>
                </a:solidFill>
                <a:latin typeface="Aptos"/>
              </a:rPr>
              <a:t>HOW IT WORKS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2331720"/>
            <a:ext cx="1463040" cy="1965960"/>
          </a:xfrm>
          <a:prstGeom prst="rect">
            <a:avLst/>
          </a:prstGeom>
          <a:solidFill>
            <a:srgbClr val="143A58"/>
          </a:solidFill>
          <a:ln w="29209">
            <a:solidFill>
              <a:srgbClr val="2D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0" y="2882188"/>
            <a:ext cx="1371600" cy="1388059"/>
          </a:xfrm>
          <a:prstGeom prst="rect">
            <a:avLst/>
          </a:prstGeom>
          <a:solidFill>
            <a:srgbClr val="1877D2"/>
          </a:solidFill>
          <a:ln>
            <a:solidFill>
              <a:srgbClr val="187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8458200" y="2882188"/>
            <a:ext cx="1280160" cy="0"/>
          </a:xfrm>
          <a:prstGeom prst="line">
            <a:avLst/>
          </a:prstGeom>
          <a:ln w="16510">
            <a:solidFill>
              <a:srgbClr val="2DD4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165592" y="3747211"/>
            <a:ext cx="521208" cy="0"/>
          </a:xfrm>
          <a:prstGeom prst="line">
            <a:avLst/>
          </a:prstGeom>
          <a:ln w="27940">
            <a:solidFill>
              <a:srgbClr val="FFB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037576" y="3683203"/>
            <a:ext cx="164592" cy="128016"/>
          </a:xfrm>
          <a:prstGeom prst="roundRect">
            <a:avLst/>
          </a:prstGeom>
          <a:solidFill>
            <a:srgbClr val="FFB042"/>
          </a:solidFill>
          <a:ln>
            <a:solidFill>
              <a:srgbClr val="FFB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39528" y="3628339"/>
            <a:ext cx="56692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>
                <a:solidFill>
                  <a:srgbClr val="FFB042"/>
                </a:solidFill>
                <a:latin typeface="Aptos"/>
              </a:rPr>
              <a:t>LOW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165592" y="2764231"/>
            <a:ext cx="521208" cy="0"/>
          </a:xfrm>
          <a:prstGeom prst="line">
            <a:avLst/>
          </a:prstGeom>
          <a:ln w="27940">
            <a:solidFill>
              <a:srgbClr val="25BE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037576" y="2700223"/>
            <a:ext cx="164592" cy="128016"/>
          </a:xfrm>
          <a:prstGeom prst="roundRect">
            <a:avLst/>
          </a:prstGeom>
          <a:solidFill>
            <a:srgbClr val="25BE84"/>
          </a:solidFill>
          <a:ln>
            <a:solidFill>
              <a:srgbClr val="25B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39528" y="2645359"/>
            <a:ext cx="56692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>
                <a:solidFill>
                  <a:srgbClr val="25BE84"/>
                </a:solidFill>
                <a:latin typeface="Aptos"/>
              </a:rPr>
              <a:t>FULL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498079" y="3154680"/>
            <a:ext cx="777241" cy="0"/>
          </a:xfrm>
          <a:prstGeom prst="line">
            <a:avLst/>
          </a:prstGeom>
          <a:ln w="31750">
            <a:solidFill>
              <a:srgbClr val="FFB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966960" y="3154680"/>
            <a:ext cx="777240" cy="0"/>
          </a:xfrm>
          <a:prstGeom prst="line">
            <a:avLst/>
          </a:prstGeom>
          <a:ln w="31750">
            <a:solidFill>
              <a:srgbClr val="25BE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269480" y="4526280"/>
            <a:ext cx="1645920" cy="621792"/>
          </a:xfrm>
          <a:prstGeom prst="roundRect">
            <a:avLst/>
          </a:prstGeom>
          <a:solidFill>
            <a:srgbClr val="66451C"/>
          </a:solidFill>
          <a:ln>
            <a:solidFill>
              <a:srgbClr val="FFB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60920" y="4690872"/>
            <a:ext cx="1463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SENSORS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21240" y="4526280"/>
            <a:ext cx="1645920" cy="621792"/>
          </a:xfrm>
          <a:prstGeom prst="roundRect">
            <a:avLst/>
          </a:prstGeom>
          <a:solidFill>
            <a:srgbClr val="114F49"/>
          </a:solidFill>
          <a:ln>
            <a:solidFill>
              <a:srgbClr val="25B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4690872"/>
            <a:ext cx="1463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PUMP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942832" y="4828032"/>
            <a:ext cx="859536" cy="0"/>
          </a:xfrm>
          <a:prstGeom prst="line">
            <a:avLst/>
          </a:prstGeom>
          <a:ln w="31750">
            <a:solidFill>
              <a:srgbClr val="2DD4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178040" y="5440680"/>
            <a:ext cx="39319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0">
                <a:solidFill>
                  <a:srgbClr val="B4D2E8"/>
                </a:solidFill>
                <a:latin typeface="Aptos"/>
              </a:rPr>
              <a:t>Sensor inputs → logic decision → pump output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2DD4E6"/>
                </a:solidFill>
                <a:latin typeface="Aptos"/>
              </a:rPr>
              <a:t>DDCA PROJECT  / 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Theory &amp; Logic Circuit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B0CBE2"/>
                </a:solidFill>
                <a:latin typeface="Aptos"/>
              </a:rPr>
              <a:t>Digital inputs represent water-level conditions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81328"/>
            <a:ext cx="11128248" cy="0"/>
          </a:xfrm>
          <a:prstGeom prst="line">
            <a:avLst/>
          </a:prstGeom>
          <a:ln w="15240">
            <a:solidFill>
              <a:srgbClr val="0F2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783080"/>
            <a:ext cx="3703320" cy="4526280"/>
          </a:xfrm>
          <a:prstGeom prst="roundRect">
            <a:avLst/>
          </a:prstGeom>
          <a:solidFill>
            <a:srgbClr val="0F2E4C"/>
          </a:solidFill>
          <a:ln>
            <a:solidFill>
              <a:srgbClr val="224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31089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2DD4E6"/>
                </a:solidFill>
                <a:latin typeface="Aptos"/>
              </a:rPr>
              <a:t>INPUTS &amp;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68880"/>
            <a:ext cx="3063240" cy="3063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L — Low-level condition
1 = water is low
H — High-level / full sensor
1 = tank is full
P — Pump command
1 = pump ON
0 = pump 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486400"/>
            <a:ext cx="30175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B4D2E8"/>
                </a:solidFill>
                <a:latin typeface="Aptos"/>
              </a:rPr>
              <a:t>Design note: a real pump controller needs memory (latch/flip-flop) to keep the pump running between the low and full thresholds.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847088"/>
            <a:ext cx="63093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2DD4E6"/>
                </a:solidFill>
                <a:latin typeface="Aptos"/>
              </a:rPr>
              <a:t>CONTROL LOGIC — CONCEPTUAL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2514600"/>
            <a:ext cx="1600200" cy="731520"/>
          </a:xfrm>
          <a:prstGeom prst="roundRect">
            <a:avLst/>
          </a:prstGeom>
          <a:solidFill>
            <a:srgbClr val="66451C"/>
          </a:solidFill>
          <a:ln>
            <a:solidFill>
              <a:srgbClr val="FFB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2633472"/>
            <a:ext cx="141732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LOW SENSOR
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3794760"/>
            <a:ext cx="1600200" cy="731520"/>
          </a:xfrm>
          <a:prstGeom prst="roundRect">
            <a:avLst/>
          </a:prstGeom>
          <a:solidFill>
            <a:srgbClr val="114F49"/>
          </a:solidFill>
          <a:ln>
            <a:solidFill>
              <a:srgbClr val="25B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3913632"/>
            <a:ext cx="141732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FULL SENSOR
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92240" y="2880360"/>
            <a:ext cx="685800" cy="0"/>
          </a:xfrm>
          <a:prstGeom prst="line">
            <a:avLst/>
          </a:prstGeom>
          <a:ln w="25400">
            <a:solidFill>
              <a:srgbClr val="2DD4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92240" y="4160520"/>
            <a:ext cx="685800" cy="0"/>
          </a:xfrm>
          <a:prstGeom prst="line">
            <a:avLst/>
          </a:prstGeom>
          <a:ln w="25400">
            <a:solidFill>
              <a:srgbClr val="2DD4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2880360"/>
            <a:ext cx="0" cy="612648"/>
          </a:xfrm>
          <a:prstGeom prst="line">
            <a:avLst/>
          </a:prstGeom>
          <a:ln w="25400">
            <a:solidFill>
              <a:srgbClr val="2DD4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178040" y="3493008"/>
            <a:ext cx="0" cy="667512"/>
          </a:xfrm>
          <a:prstGeom prst="line">
            <a:avLst/>
          </a:prstGeom>
          <a:ln w="25400">
            <a:solidFill>
              <a:srgbClr val="2DD4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178040" y="3090672"/>
            <a:ext cx="1828800" cy="822960"/>
          </a:xfrm>
          <a:prstGeom prst="roundRect">
            <a:avLst/>
          </a:prstGeom>
          <a:solidFill>
            <a:srgbClr val="164468"/>
          </a:solidFill>
          <a:ln>
            <a:solidFill>
              <a:srgbClr val="2D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3236976"/>
            <a:ext cx="15544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CONTROL
LATCH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06840" y="3493008"/>
            <a:ext cx="640080" cy="0"/>
          </a:xfrm>
          <a:prstGeom prst="line">
            <a:avLst/>
          </a:prstGeom>
          <a:ln w="31750">
            <a:solidFill>
              <a:srgbClr val="2DD4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46920" y="3090672"/>
            <a:ext cx="1417320" cy="822960"/>
          </a:xfrm>
          <a:prstGeom prst="roundRect">
            <a:avLst/>
          </a:prstGeom>
          <a:solidFill>
            <a:srgbClr val="114F49"/>
          </a:solidFill>
          <a:ln>
            <a:solidFill>
              <a:srgbClr val="25B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38360" y="3236976"/>
            <a:ext cx="123444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PUMP
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4617720"/>
            <a:ext cx="640080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Set condition: low level detected     •     Reset condition: full tank detected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5394960"/>
            <a:ext cx="640080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B4D2E8"/>
                </a:solidFill>
                <a:latin typeface="Aptos"/>
              </a:rPr>
              <a:t>A latch provides the memory needed for automatic refill control; the exact Logisim implementation should match the circuit built by your team.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DD4E6"/>
                </a:solidFill>
                <a:latin typeface="Aptos"/>
              </a:rPr>
              <a:t>DDCA PROJECT  / 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Circuit Design in Logisim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97280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B0CBE2"/>
                </a:solidFill>
                <a:latin typeface="Aptos"/>
              </a:rPr>
              <a:t>Gate-level control using two cross-coupled NOR gates (SR latch)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81328"/>
            <a:ext cx="11128248" cy="0"/>
          </a:xfrm>
          <a:prstGeom prst="line">
            <a:avLst/>
          </a:prstGeom>
          <a:ln w="15240">
            <a:solidFill>
              <a:srgbClr val="0F2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isim_style_water_tank_circu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64208"/>
            <a:ext cx="1097280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263640"/>
            <a:ext cx="107899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B4D2E8"/>
                </a:solidFill>
                <a:latin typeface="Aptos"/>
              </a:rPr>
              <a:t>In Logisim: place 2 NOR gates, 2 input pins (LOW and FULL), connect feedback wires, and attach an LED to Q.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2DD4E6"/>
                </a:solidFill>
                <a:latin typeface="Aptos"/>
              </a:rPr>
              <a:t>DDCA PROJECT  / 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Simulation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B0CBE2"/>
                </a:solidFill>
                <a:latin typeface="Aptos"/>
              </a:rPr>
              <a:t>Expected behavior for a latch-based refill controller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81328"/>
            <a:ext cx="11128248" cy="0"/>
          </a:xfrm>
          <a:prstGeom prst="line">
            <a:avLst/>
          </a:prstGeom>
          <a:ln w="15240">
            <a:solidFill>
              <a:srgbClr val="0F2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828800"/>
            <a:ext cx="23774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2DD4E6"/>
                </a:solidFill>
                <a:latin typeface="Aptos"/>
              </a:rPr>
              <a:t>INPUT / 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828800"/>
            <a:ext cx="20116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2DD4E6"/>
                </a:solidFill>
                <a:latin typeface="Aptos"/>
              </a:rPr>
              <a:t>LOW SENSOR (L)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1828800"/>
            <a:ext cx="20116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2DD4E6"/>
                </a:solidFill>
                <a:latin typeface="Aptos"/>
              </a:rPr>
              <a:t>FULL SENSOR (H)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828800"/>
            <a:ext cx="14630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2DD4E6"/>
                </a:solidFill>
                <a:latin typeface="Aptos"/>
              </a:rPr>
              <a:t>PUMP (P)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1828800"/>
            <a:ext cx="21031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2DD4E6"/>
                </a:solidFill>
                <a:latin typeface="Aptos"/>
              </a:rPr>
              <a:t>EXPECTED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286000"/>
            <a:ext cx="10789920" cy="585216"/>
          </a:xfrm>
          <a:prstGeom prst="roundRect">
            <a:avLst/>
          </a:prstGeom>
          <a:solidFill>
            <a:srgbClr val="0F2E4C"/>
          </a:solidFill>
          <a:ln>
            <a:solidFill>
              <a:srgbClr val="0F2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21488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Water below low mark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395728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B042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2395728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25BE84"/>
                </a:solidFill>
                <a:latin typeface="Aptos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395728"/>
            <a:ext cx="13716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2DD4E6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395728"/>
            <a:ext cx="22402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Pump starts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2999232"/>
            <a:ext cx="10789920" cy="585216"/>
          </a:xfrm>
          <a:prstGeom prst="roundRect">
            <a:avLst/>
          </a:prstGeom>
          <a:solidFill>
            <a:srgbClr val="133858"/>
          </a:solidFill>
          <a:ln>
            <a:solidFill>
              <a:srgbClr val="13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108960"/>
            <a:ext cx="21488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Water rising between sensors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3108960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B042"/>
                </a:solidFill>
                <a:latin typeface="Apto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3108960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25BE84"/>
                </a:solidFill>
                <a:latin typeface="Aptos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108960"/>
            <a:ext cx="13716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2DD4E6"/>
                </a:solidFill>
                <a:latin typeface="Aptos"/>
              </a:rPr>
              <a:t>1*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3108960"/>
            <a:ext cx="22402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Pump keeps running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712464"/>
            <a:ext cx="10789920" cy="585216"/>
          </a:xfrm>
          <a:prstGeom prst="roundRect">
            <a:avLst/>
          </a:prstGeom>
          <a:solidFill>
            <a:srgbClr val="0F2E4C"/>
          </a:solidFill>
          <a:ln>
            <a:solidFill>
              <a:srgbClr val="0F2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822192"/>
            <a:ext cx="21488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Tank reaches full mark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822192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B042"/>
                </a:solidFill>
                <a:latin typeface="Aptos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3822192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25BE84"/>
                </a:solidFill>
                <a:latin typeface="Aptos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3822192"/>
            <a:ext cx="13716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2DD4E6"/>
                </a:solidFill>
                <a:latin typeface="Aptos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3822192"/>
            <a:ext cx="22402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Pump stops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4425696"/>
            <a:ext cx="10789920" cy="585216"/>
          </a:xfrm>
          <a:prstGeom prst="roundRect">
            <a:avLst/>
          </a:prstGeom>
          <a:solidFill>
            <a:srgbClr val="133858"/>
          </a:solidFill>
          <a:ln>
            <a:solidFill>
              <a:srgbClr val="13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535424"/>
            <a:ext cx="21488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Normal level / no new event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4535424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B042"/>
                </a:solidFill>
                <a:latin typeface="Aptos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4535424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25BE84"/>
                </a:solidFill>
                <a:latin typeface="Aptos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4535424"/>
            <a:ext cx="13716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2DD4E6"/>
                </a:solidFill>
                <a:latin typeface="Aptos"/>
              </a:rPr>
              <a:t>0*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4535424"/>
            <a:ext cx="22402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Pump remains off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349240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B4D2E8"/>
                </a:solidFill>
                <a:latin typeface="Aptos"/>
              </a:rPr>
              <a:t>*The output depends on the stored latch state when both sensors are 0. The memory element is what makes the system automatic.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989320"/>
            <a:ext cx="256032" cy="182880"/>
          </a:xfrm>
          <a:prstGeom prst="roundRect">
            <a:avLst/>
          </a:prstGeom>
          <a:solidFill>
            <a:srgbClr val="25BE84"/>
          </a:solidFill>
          <a:ln>
            <a:solidFill>
              <a:srgbClr val="25B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5925312"/>
            <a:ext cx="24688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B4D2E8"/>
                </a:solidFill>
                <a:latin typeface="Aptos"/>
              </a:rPr>
              <a:t>Pump OFF / full reached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5989320"/>
            <a:ext cx="256032" cy="182880"/>
          </a:xfrm>
          <a:prstGeom prst="roundRect">
            <a:avLst/>
          </a:prstGeom>
          <a:solidFill>
            <a:srgbClr val="2DD4E6"/>
          </a:solidFill>
          <a:ln>
            <a:solidFill>
              <a:srgbClr val="2D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26280" y="5925312"/>
            <a:ext cx="210312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B4D2E8"/>
                </a:solidFill>
                <a:latin typeface="Aptos"/>
              </a:rPr>
              <a:t>Pump ON / filling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0" y="5989320"/>
            <a:ext cx="256032" cy="182880"/>
          </a:xfrm>
          <a:prstGeom prst="roundRect">
            <a:avLst/>
          </a:prstGeom>
          <a:solidFill>
            <a:srgbClr val="FFB042"/>
          </a:solidFill>
          <a:ln>
            <a:solidFill>
              <a:srgbClr val="FFB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0" y="5925312"/>
            <a:ext cx="20116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B4D2E8"/>
                </a:solidFill>
                <a:latin typeface="Aptos"/>
              </a:rPr>
              <a:t>Low-level trigger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6473952"/>
            <a:ext cx="1078992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B4D2E8"/>
                </a:solidFill>
                <a:latin typeface="Aptos"/>
              </a:rPr>
              <a:t>This table describes the latch's stored-state behavior; the pump output between sensor thresholds depends on the previous state.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2DD4E6"/>
                </a:solidFill>
                <a:latin typeface="Aptos"/>
              </a:rPr>
              <a:t>DDCA PROJECT  / 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Conclusion &amp;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B0CBE2"/>
                </a:solidFill>
                <a:latin typeface="Aptos"/>
              </a:rPr>
              <a:t>From a logic design to a practical water-saving idea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81328"/>
            <a:ext cx="11128248" cy="0"/>
          </a:xfrm>
          <a:prstGeom prst="line">
            <a:avLst/>
          </a:prstGeom>
          <a:ln w="15240">
            <a:solidFill>
              <a:srgbClr val="0F2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874519"/>
            <a:ext cx="3246120" cy="3337560"/>
          </a:xfrm>
          <a:prstGeom prst="roundRect">
            <a:avLst/>
          </a:prstGeom>
          <a:solidFill>
            <a:srgbClr val="0F2E4C"/>
          </a:solidFill>
          <a:ln>
            <a:solidFill>
              <a:srgbClr val="224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7" y="2084831"/>
            <a:ext cx="146304" cy="347472"/>
          </a:xfrm>
          <a:prstGeom prst="roundRect">
            <a:avLst/>
          </a:prstGeom>
          <a:solidFill>
            <a:srgbClr val="2DD4E6"/>
          </a:solidFill>
          <a:ln>
            <a:solidFill>
              <a:srgbClr val="2D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84831"/>
            <a:ext cx="25146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2DD4E6"/>
                </a:solidFill>
                <a:latin typeface="Aptos"/>
              </a:rP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743200"/>
            <a:ext cx="20116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2DD4E6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2743200"/>
            <a:ext cx="248716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Automatic pump start/stop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364992"/>
            <a:ext cx="20116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2DD4E6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3364992"/>
            <a:ext cx="248716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Reduces overflow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986784"/>
            <a:ext cx="20116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2DD4E6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3986784"/>
            <a:ext cx="248716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Demonstrates digital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874519"/>
            <a:ext cx="3246120" cy="3337560"/>
          </a:xfrm>
          <a:prstGeom prst="roundRect">
            <a:avLst/>
          </a:prstGeom>
          <a:solidFill>
            <a:srgbClr val="0F2E4C"/>
          </a:solidFill>
          <a:ln>
            <a:solidFill>
              <a:srgbClr val="224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61688" y="2084831"/>
            <a:ext cx="146304" cy="347472"/>
          </a:xfrm>
          <a:prstGeom prst="roundRect">
            <a:avLst/>
          </a:prstGeom>
          <a:solidFill>
            <a:srgbClr val="25BE84"/>
          </a:solidFill>
          <a:ln>
            <a:solidFill>
              <a:srgbClr val="25B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084831"/>
            <a:ext cx="25146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25BE84"/>
                </a:solidFill>
                <a:latin typeface="Aptos"/>
              </a:rPr>
              <a:t>APPLICATIONS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743200"/>
            <a:ext cx="20116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2DD4E6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2584" y="2743200"/>
            <a:ext cx="248716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Homes and apartments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3364992"/>
            <a:ext cx="20116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2DD4E6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584" y="3364992"/>
            <a:ext cx="248716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Overhead and storage tanks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3986784"/>
            <a:ext cx="20116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2DD4E6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84" y="3986784"/>
            <a:ext cx="248716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Schools, offices, small buildings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1874519"/>
            <a:ext cx="3246120" cy="3337560"/>
          </a:xfrm>
          <a:prstGeom prst="roundRect">
            <a:avLst/>
          </a:prstGeom>
          <a:solidFill>
            <a:srgbClr val="0F2E4C"/>
          </a:solidFill>
          <a:ln>
            <a:solidFill>
              <a:srgbClr val="224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882128" y="2084831"/>
            <a:ext cx="146304" cy="347472"/>
          </a:xfrm>
          <a:prstGeom prst="roundRect">
            <a:avLst/>
          </a:prstGeom>
          <a:solidFill>
            <a:srgbClr val="FFB042"/>
          </a:solidFill>
          <a:ln>
            <a:solidFill>
              <a:srgbClr val="FFB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2084831"/>
            <a:ext cx="25146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FFB042"/>
                </a:solidFill>
                <a:latin typeface="Aptos"/>
              </a:rPr>
              <a:t>FUTURE IMPROVEMENTS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6992" y="2743200"/>
            <a:ext cx="20116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2DD4E6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3023" y="2743200"/>
            <a:ext cx="248716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Add buzzer / overflow alarm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6992" y="3364992"/>
            <a:ext cx="20116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2DD4E6"/>
                </a:solidFill>
                <a:latin typeface="Apto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023" y="3364992"/>
            <a:ext cx="248716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Add dry-run protection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36992" y="3986784"/>
            <a:ext cx="20116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2DD4E6"/>
                </a:solidFill>
                <a:latin typeface="Apto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3023" y="3986784"/>
            <a:ext cx="248716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Use relay driver and real sensors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53212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2DD4E6"/>
                </a:solidFill>
                <a:latin typeface="Aptos"/>
              </a:rPr>
              <a:t>KEY TAKEAWAY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833872"/>
            <a:ext cx="89611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Digital logic can make water management more reliable, efficient, and easier to monitor.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38360" y="5486400"/>
            <a:ext cx="1554480" cy="685800"/>
          </a:xfrm>
          <a:prstGeom prst="roundRect">
            <a:avLst/>
          </a:prstGeom>
          <a:solidFill>
            <a:srgbClr val="114F49"/>
          </a:solidFill>
          <a:ln>
            <a:solidFill>
              <a:srgbClr val="25B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9800" y="5669280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Water Tank Overflow Protection and Pump Control System</dc:title>
  <dc:subject>DDCA project presentation</dc:subject>
  <dc:creator>DDCA Project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